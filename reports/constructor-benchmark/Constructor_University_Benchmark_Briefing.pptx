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fd9658348d4b50" /><Relationship Type="http://schemas.openxmlformats.org/officeDocument/2006/relationships/extended-properties" Target="/docProps/app.xml" Id="R3ecbc46431694a6b" /><Relationship Type="http://schemas.openxmlformats.org/officeDocument/2006/relationships/officeDocument" Target="/ppt/presentation.xml" Id="Rab15a9c3e5194a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53f661ac7a4b74"/>
  </p:sldMasterIdLst>
  <p:notesMasterIdLst>
    <p:notesMasterId xmlns:r="http://schemas.openxmlformats.org/officeDocument/2006/relationships" r:id="R3b4d689cfc2d4846"/>
  </p:notesMasterIdLst>
  <p:sldIdLst>
    <p:sldId xmlns:r="http://schemas.openxmlformats.org/officeDocument/2006/relationships" id="256" r:id="R969b07c761ad415d"/>
    <p:sldId xmlns:r="http://schemas.openxmlformats.org/officeDocument/2006/relationships" id="257" r:id="Rce197bf35ad3437d"/>
    <p:sldId xmlns:r="http://schemas.openxmlformats.org/officeDocument/2006/relationships" id="258" r:id="Rc565b9cdb634469f"/>
    <p:sldId xmlns:r="http://schemas.openxmlformats.org/officeDocument/2006/relationships" id="259" r:id="R11a640ef505345db"/>
    <p:sldId xmlns:r="http://schemas.openxmlformats.org/officeDocument/2006/relationships" id="260" r:id="R533b9f25d3f646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3e3016843c4676" /><Relationship Type="http://schemas.openxmlformats.org/officeDocument/2006/relationships/slideMaster" Target="/ppt/slideMasters/slideMaster1.xml" Id="R8153f661ac7a4b74" /><Relationship Type="http://schemas.openxmlformats.org/officeDocument/2006/relationships/notesMaster" Target="/ppt/notesMasters/notesMaster1.xml" Id="R3b4d689cfc2d4846" /><Relationship Type="http://schemas.openxmlformats.org/officeDocument/2006/relationships/presProps" Target="/ppt/presProps.xml" Id="R8965be3589cf4c2e" /><Relationship Type="http://schemas.openxmlformats.org/officeDocument/2006/relationships/tableStyles" Target="/ppt/tableStyles.xml" Id="R84bb09a24fe5448b" /><Relationship Type="http://schemas.openxmlformats.org/officeDocument/2006/relationships/slide" Target="/ppt/slides/slide1.xml" Id="R969b07c761ad415d" /><Relationship Type="http://schemas.openxmlformats.org/officeDocument/2006/relationships/slide" Target="/ppt/slides/slide2.xml" Id="Rce197bf35ad3437d" /><Relationship Type="http://schemas.openxmlformats.org/officeDocument/2006/relationships/slide" Target="/ppt/slides/slide3.xml" Id="Rc565b9cdb634469f" /><Relationship Type="http://schemas.openxmlformats.org/officeDocument/2006/relationships/slide" Target="/ppt/slides/slide4.xml" Id="R11a640ef505345db" /><Relationship Type="http://schemas.openxmlformats.org/officeDocument/2006/relationships/slide" Target="/ppt/slides/slide5.xml" Id="R533b9f25d3f6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c6f7b19c947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392f89269d4b83" /><Relationship Type="http://schemas.openxmlformats.org/officeDocument/2006/relationships/notesMaster" Target="/ppt/notesMasters/notesMaster1.xml" Id="Rcabf87685ef246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eb8ce36b724b49" /><Relationship Type="http://schemas.openxmlformats.org/officeDocument/2006/relationships/notesMaster" Target="/ppt/notesMasters/notesMaster1.xml" Id="R73a6f3b611a649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905104a437474a" /><Relationship Type="http://schemas.openxmlformats.org/officeDocument/2006/relationships/notesMaster" Target="/ppt/notesMasters/notesMaster1.xml" Id="R4cf739f8cab743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7ade0d9d8c4aec" /><Relationship Type="http://schemas.openxmlformats.org/officeDocument/2006/relationships/notesMaster" Target="/ppt/notesMasters/notesMaster1.xml" Id="R0c4358681d7d4e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c40aaec6bb4043" /><Relationship Type="http://schemas.openxmlformats.org/officeDocument/2006/relationships/notesMaster" Target="/ppt/notesMasters/notesMaster1.xml" Id="R7d0259965809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https://www.timeshighereducation.com/world-university-rankings/latest/world-ranking</a:t>
            </a:r>
          </a:p>
          <a:p xmlns:a="http://schemas.openxmlformats.org/drawingml/2006/main">
            <a:r>
              <a:t>Local snapshot times_higher_education_rankings.csv · SHA256 376ff9e47d79 · ranking edition unverified</a:t>
            </a:r>
          </a:p>
          <a:p xmlns:a="http://schemas.openxmlformats.org/drawingml/2006/main">
            <a:r>
              <a:t>Ranked German institutions, excluding Constructor; smallest absolute difference in rank-band lower bound; alphabetical tie-break; first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https://www.timeshighereducation.com/world-university-rankings/latest/world-ranking</a:t>
            </a:r>
          </a:p>
          <a:p xmlns:a="http://schemas.openxmlformats.org/drawingml/2006/main">
            <a:r>
              <a:t>Local snapshot times_higher_education_rankings.csv · SHA256 376ff9e47d79 · ranking edition unverified</a:t>
            </a:r>
          </a:p>
          <a:p xmlns:a="http://schemas.openxmlformats.org/drawingml/2006/main">
            <a:r>
              <a:t>Ranked German institutions, excluding Constructor; smallest absolute difference in rank-band lower bound; alphabetical tie-break; first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https://www.timeshighereducation.com/world-university-rankings/latest/world-ranking</a:t>
            </a:r>
          </a:p>
          <a:p xmlns:a="http://schemas.openxmlformats.org/drawingml/2006/main">
            <a:r>
              <a:t>Local snapshot times_higher_education_rankings.csv · SHA256 376ff9e47d79 · ranking edition unverified</a:t>
            </a:r>
          </a:p>
          <a:p xmlns:a="http://schemas.openxmlformats.org/drawingml/2006/main">
            <a:r>
              <a:t>Ranked German institutions, excluding Constructor; smallest absolute difference in rank-band lower bound; alphabetical tie-break; first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https://www.timeshighereducation.com/world-university-rankings/latest/world-ranking</a:t>
            </a:r>
          </a:p>
          <a:p xmlns:a="http://schemas.openxmlformats.org/drawingml/2006/main">
            <a:r>
              <a:t>Local snapshot times_higher_education_rankings.csv · SHA256 376ff9e47d79 · ranking edition unverified</a:t>
            </a:r>
          </a:p>
          <a:p xmlns:a="http://schemas.openxmlformats.org/drawingml/2006/main">
            <a:r>
              <a:t>Ranked German institutions, excluding Constructor; smallest absolute difference in rank-band lower bound; alphabetical tie-break; first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https://www.timeshighereducation.com/world-university-rankings/latest/world-ranking</a:t>
            </a:r>
          </a:p>
          <a:p xmlns:a="http://schemas.openxmlformats.org/drawingml/2006/main">
            <a:r>
              <a:t>Local snapshot times_higher_education_rankings.csv · SHA256 376ff9e47d79 · ranking edition unverified</a:t>
            </a:r>
          </a:p>
          <a:p xmlns:a="http://schemas.openxmlformats.org/drawingml/2006/main">
            <a:r>
              <a:t>Ranked German institutions, excluding Constructor; smallest absolute difference in rank-band lower bound; alphabetical tie-break; first five.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3819b793644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e91b8d4794f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22414f20a47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35a09253c42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cae9900f140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e3d3a85ec47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194EE3-2ECF-49FB-995A-5B436C108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656021-CDCF-46AA-A0C5-E75B8816BB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80439B-892F-4C3D-BA2E-A2132EDAC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ACBA5D-2324-4915-A4F7-5DD90CD35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75DA41-3500-4E40-8D80-6AAD051617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E4C97A-6A25-431D-89F4-596234729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4CC96C-455F-452D-BAB7-A614B2A7ED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4B47F4-C5C6-4D40-A324-B0F749211C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7A136E-1392-4552-8DF3-A08F9D4795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BDD92B-E73A-4752-AC6E-59E0BD76A2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2bbd60baf24a92" /><Relationship Type="http://schemas.openxmlformats.org/officeDocument/2006/relationships/slideLayout" Target="/ppt/slideLayouts/slideLayout1.xml" Id="R9e58a6736acb452f" /><Relationship Type="http://schemas.openxmlformats.org/officeDocument/2006/relationships/slideLayout" Target="/ppt/slideLayouts/slideLayout2.xml" Id="Rae904840648d483b" /><Relationship Type="http://schemas.openxmlformats.org/officeDocument/2006/relationships/slideLayout" Target="/ppt/slideLayouts/slideLayout3.xml" Id="Rdfc167ca8cd04b1e" /><Relationship Type="http://schemas.openxmlformats.org/officeDocument/2006/relationships/slideLayout" Target="/ppt/slideLayouts/slideLayout4.xml" Id="R91beb3a6010746c1" /><Relationship Type="http://schemas.openxmlformats.org/officeDocument/2006/relationships/slideLayout" Target="/ppt/slideLayouts/slideLayout5.xml" Id="R55a0eb607679423a" /><Relationship Type="http://schemas.openxmlformats.org/officeDocument/2006/relationships/slideLayout" Target="/ppt/slideLayouts/slideLayout6.xml" Id="R64b44e5375ec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8a6736acb452f"/>
    <p:sldLayoutId xmlns:r="http://schemas.openxmlformats.org/officeDocument/2006/relationships" id="2147483650" r:id="Rae904840648d483b"/>
    <p:sldLayoutId xmlns:r="http://schemas.openxmlformats.org/officeDocument/2006/relationships" id="2147483651" r:id="Rdfc167ca8cd04b1e"/>
    <p:sldLayoutId xmlns:r="http://schemas.openxmlformats.org/officeDocument/2006/relationships" id="2147483652" r:id="R91beb3a6010746c1"/>
    <p:sldLayoutId xmlns:r="http://schemas.openxmlformats.org/officeDocument/2006/relationships" id="2147483653" r:id="R55a0eb607679423a"/>
    <p:sldLayoutId xmlns:r="http://schemas.openxmlformats.org/officeDocument/2006/relationships" id="2147483654" r:id="R64b44e5375ec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ca60e5d3446ff" /><Relationship Type="http://schemas.openxmlformats.org/officeDocument/2006/relationships/notesSlide" Target="/ppt/notesSlides/notesSlide1.xml" Id="Rc9124fefb96048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9b9d36dd241ec" /><Relationship Type="http://schemas.openxmlformats.org/officeDocument/2006/relationships/notesSlide" Target="/ppt/notesSlides/notesSlide2.xml" Id="R0525e5a403bb40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8de38213c4080" /><Relationship Type="http://schemas.openxmlformats.org/officeDocument/2006/relationships/chart" Target="/ppt/slides/charts/chart1.xml" Id="Re56f0458386140c9" /><Relationship Type="http://schemas.openxmlformats.org/officeDocument/2006/relationships/notesSlide" Target="/ppt/notesSlides/notesSlide3.xml" Id="R85656ef08b754d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589b3ab00462f" /><Relationship Type="http://schemas.openxmlformats.org/officeDocument/2006/relationships/chart" Target="/ppt/slides/charts/chart2.xml" Id="R3e579c44f9724ea1" /><Relationship Type="http://schemas.openxmlformats.org/officeDocument/2006/relationships/notesSlide" Target="/ppt/notesSlides/notesSlide4.xml" Id="Rfac30e5db34c4a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b9b3e49cd4334" /><Relationship Type="http://schemas.openxmlformats.org/officeDocument/2006/relationships/notesSlide" Target="/ppt/notesSlides/notesSlide5.xml" Id="Rbfde58f02b024c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Constructor</c:v>
          </c:tx>
          <c:spPr>
            <a:solidFill xmlns:a="http://schemas.openxmlformats.org/drawingml/2006/main">
              <a:srgbClr val="58D9C9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Teaching</c:v>
                </c:pt>
                <c:pt idx="1">
                  <c:v>Research</c:v>
                </c:pt>
                <c:pt idx="2">
                  <c:v>Citations</c:v>
                </c:pt>
                <c:pt idx="3">
                  <c:v>Industry</c:v>
                </c:pt>
                <c:pt idx="4">
                  <c:v>Intl outlook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39</c:v>
                </c:pt>
                <c:pt idx="1">
                  <c:v>35.8</c:v>
                </c:pt>
                <c:pt idx="2">
                  <c:v>60.9</c:v>
                </c:pt>
                <c:pt idx="3">
                  <c:v>84.8</c:v>
                </c:pt>
                <c:pt idx="4">
                  <c:v>92.6</c:v>
                </c:pt>
              </c:numCache>
            </c:numRef>
          </c:val>
        </c:ser>
        <c:ser>
          <c:idx val="1"/>
          <c:order val="1"/>
          <c:tx>
            <c:v>Peer median</c:v>
          </c:tx>
          <c:spPr>
            <a:solidFill xmlns:a="http://schemas.openxmlformats.org/drawingml/2006/main">
              <a:srgbClr val="A393FA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Teaching</c:v>
                </c:pt>
                <c:pt idx="1">
                  <c:v>Research</c:v>
                </c:pt>
                <c:pt idx="2">
                  <c:v>Citations</c:v>
                </c:pt>
                <c:pt idx="3">
                  <c:v>Industry</c:v>
                </c:pt>
                <c:pt idx="4">
                  <c:v>Intl outlook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34.5</c:v>
                </c:pt>
                <c:pt idx="1">
                  <c:v>36.9</c:v>
                </c:pt>
                <c:pt idx="2">
                  <c:v>72.9</c:v>
                </c:pt>
                <c:pt idx="3">
                  <c:v>76.7</c:v>
                </c:pt>
                <c:pt idx="4">
                  <c:v>65.4</c:v>
                </c:pt>
              </c:numCache>
            </c:numRef>
          </c:val>
        </c:ser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2627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64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A1020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E6EDF9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0A1020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Constructor minus peer median</c:v>
          </c:tx>
          <c:spPr>
            <a:solidFill xmlns:a="http://schemas.openxmlformats.org/drawingml/2006/main">
              <a:srgbClr val="58D9C9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Teaching</c:v>
                </c:pt>
                <c:pt idx="1">
                  <c:v>Research</c:v>
                </c:pt>
                <c:pt idx="2">
                  <c:v>Citations</c:v>
                </c:pt>
                <c:pt idx="3">
                  <c:v>Industry</c:v>
                </c:pt>
                <c:pt idx="4">
                  <c:v>Intl outlook</c:v>
                </c:pt>
              </c:strCache>
            </c:strRef>
          </c:cat>
          <c:val>
            <c:numRef>
              <c:f>'Chart Data'!$B$2:$B$6</c:f>
              <c:numCache>
                <c:formatCode>+0.0;-0.0;0.0</c:formatCode>
                <c:ptCount val="5"/>
                <c:pt idx="0">
                  <c:v>4.5</c:v>
                </c:pt>
                <c:pt idx="1">
                  <c:v>-1.1</c:v>
                </c:pt>
                <c:pt idx="2">
                  <c:v>-12</c:v>
                </c:pt>
                <c:pt idx="3">
                  <c:v>8.1</c:v>
                </c:pt>
                <c:pt idx="4">
                  <c:v>27.2</c:v>
                </c:pt>
              </c:numCache>
            </c:numRef>
          </c:val>
        </c:ser>
        <c:dLbls>
          <c:numFmt formatCode="+0.0;-0.0;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E6EDF9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52627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-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64D"/>
              </a:solidFill>
              <a:prstDash val="solid"/>
            </a:ln>
          </c:spPr>
        </c:majorGridlines>
        <c:numFmt formatCode="+0.0;-0.0;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0A102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A1020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38A05BA-3168-4171-8310-D7A7CD89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Constructor University</a:t>
            </a:r>
          </a:p>
          <a:p xmlns:a="http://schemas.openxmlformats.org/drawingml/2006/main">
            <a: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Peer benchmark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02E9474-1FE2-4E18-BEBB-62F35E9B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Source: THE snapshot, 16 October 2026. Edition unverified. 1/5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4E88F07F-2F7F-491C-9F38-EE95E01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Comparison with five ranked German institutions</a:t>
            </a:r>
          </a:p>
        </p:txBody>
      </p:sp>
      <p:sp>
        <p:nvSpPr>
          <p:cNvPr id="4" name="author">
            <a:extLst xmlns:a="http://schemas.openxmlformats.org/drawingml/2006/main">
              <a:ext uri="{FF2B5EF4-FFF2-40B4-BE49-F238E27FC236}">
                <a16:creationId xmlns:a16="http://schemas.microsoft.com/office/drawing/2014/main" id="{E9AA5CF9-58CA-4B39-995A-83F6B091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8D9C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8D9C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8D9C9"/>
                </a:solidFill>
                <a:latin typeface="DejaVu Sans"/>
                <a:ea typeface="DejaVu Sans"/>
                <a:cs typeface="DejaVu Sans"/>
              </a:rPr>
              <a:t>Blessing Sekeramavi</a:t>
            </a:r>
          </a:p>
        </p:txBody>
      </p:sp>
      <p:sp>
        <p:nvSpPr>
          <p:cNvPr id="5" name="purpose">
            <a:extLst xmlns:a="http://schemas.openxmlformats.org/drawingml/2006/main">
              <a:ext uri="{FF2B5EF4-FFF2-40B4-BE49-F238E27FC236}">
                <a16:creationId xmlns:a16="http://schemas.microsoft.com/office/drawing/2014/main" id="{5844D93C-9081-4B86-A5DD-3C0A2953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UniversityScope example report</a:t>
            </a:r>
          </a:p>
          <a:p xmlns:a="http://schemas.openxmlformats.org/drawingml/2006/main">
            <a:pPr>
              <a:defRPr sz="1875" b="0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Teaching, research, citations, industry income and international outlook</a:t>
            </a:r>
          </a:p>
        </p:txBody>
      </p:sp>
    </p:spTree>
    <p:extLst>
      <p:ext uri="{BB962C8B-B14F-4D97-AF65-F5344CB8AC3E}">
        <p14:creationId xmlns:p14="http://schemas.microsoft.com/office/powerpoint/2010/main" val="1647779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50B6032-9ECE-4E15-BF18-A8ED8C8F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Peer group and selection rule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11E23EF-90B5-4246-9920-520D206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Source: THE snapshot, 16 October 2026. Edition unverified. 2/5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B1873-B22B-4279-9096-073EAAF15C7D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1905000"/>
                <a:gridCol w="1924050"/>
              </a:tblGrid>
              <a:tr h="555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Institution</a:t>
                      </a:r>
                    </a:p>
                  </a:txBody>
                  <a:tcPr marL="114300" marR="114300" marT="76200" marB="76200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Rank band</a:t>
                      </a:r>
                    </a:p>
                  </a:txBody>
                  <a:tcPr marL="114300" marR="114300" marT="76200" marB="76200">
                    <a:solidFill>
                      <a:srgbClr val="1830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Band distance</a:t>
                      </a:r>
                    </a:p>
                  </a:txBody>
                  <a:tcPr marL="114300" marR="114300" marT="76200" marB="76200">
                    <a:solidFill>
                      <a:srgbClr val="18304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University of Hohenheim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376–400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University of Marburg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376–400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Justus Liebig University Giessen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401–450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Leibniz University Hannover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351–375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Saarland University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401–450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6EDF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</a:t>
                      </a:r>
                    </a:p>
                  </a:txBody>
                  <a:tcPr marL="114300" marR="114300" marT="76200" marB="76200">
                    <a:solidFill>
                      <a:srgbClr val="0A1020"/>
                    </a:solidFill>
                  </a:tcPr>
                </a:tc>
              </a:tr>
            </a:tbl>
          </a:graphicData>
        </a:graphic>
      </p:graphicFrame>
      <p:sp>
        <p:nvSpPr>
          <p:cNvPr id="4" name="selection-detail">
            <a:extLst xmlns:a="http://schemas.openxmlformats.org/drawingml/2006/main">
              <a:ext uri="{FF2B5EF4-FFF2-40B4-BE49-F238E27FC236}">
                <a16:creationId xmlns:a16="http://schemas.microsoft.com/office/drawing/2014/main" id="{55A98040-C9C2-454C-8B45-8DC6372C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Same country and nearest rank-band lower bound. Alphabetical order breaks ties.</a:t>
            </a:r>
          </a:p>
          <a:p xmlns:a="http://schemas.openxmlformats.org/drawingml/2006/main">
            <a:pPr>
              <a:defRPr sz="172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Constructor is excluded from every peer median.</a:t>
            </a:r>
          </a:p>
        </p:txBody>
      </p:sp>
    </p:spTree>
    <p:extLst>
      <p:ext uri="{BB962C8B-B14F-4D97-AF65-F5344CB8AC3E}">
        <p14:creationId xmlns:p14="http://schemas.microsoft.com/office/powerpoint/2010/main" val="1792301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9B16FA-59CF-48A4-8F3F-20EB8ACC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Constructor leads on international outlook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781C62A-BE54-48FA-A1CB-D95A5EB8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Source: THE snapshot, 16 October 2026. Edition unverified. 3/5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847431B-095E-48AE-A4D1-1F9FE6898170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6f0458386140c9"/>
          </a:graphicData>
        </a:graphic>
      </p:graphicFrame>
      <p:sp>
        <p:nvSpPr>
          <p:cNvPr id="4" name="chart-note">
            <a:extLst xmlns:a="http://schemas.openxmlformats.org/drawingml/2006/main">
              <a:ext uri="{FF2B5EF4-FFF2-40B4-BE49-F238E27FC236}">
                <a16:creationId xmlns:a16="http://schemas.microsoft.com/office/drawing/2014/main" id="{A49A3C80-86C4-4EFE-89C7-07C6E577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Component scores on a 0–100 scale. All selected component values are exact.</a:t>
            </a:r>
          </a:p>
        </p:txBody>
      </p:sp>
    </p:spTree>
    <p:extLst>
      <p:ext uri="{BB962C8B-B14F-4D97-AF65-F5344CB8AC3E}">
        <p14:creationId xmlns:p14="http://schemas.microsoft.com/office/powerpoint/2010/main" val="383446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C69B63-54F9-47C9-BC61-5D1FDB9C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Citations trail the peer median by 12.0 points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BA5C1C6-BE9D-47D1-ADC7-3C595605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Source: THE snapshot, 16 October 2026. Edition unverified. 4/5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9418116-54A0-422E-9863-0D1CA2EE3B88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579c44f9724ea1"/>
          </a:graphicData>
        </a:graphic>
      </p:graphicFrame>
      <p:sp>
        <p:nvSpPr>
          <p:cNvPr id="4" name="gap-note">
            <a:extLst xmlns:a="http://schemas.openxmlformats.org/drawingml/2006/main">
              <a:ext uri="{FF2B5EF4-FFF2-40B4-BE49-F238E27FC236}">
                <a16:creationId xmlns:a16="http://schemas.microsoft.com/office/drawing/2014/main" id="{4F6D278D-DBC9-4E14-8D65-7DC834A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Gap = Constructor score minus the median of the five peers. Units: score points.</a:t>
            </a:r>
          </a:p>
        </p:txBody>
      </p:sp>
    </p:spTree>
    <p:extLst>
      <p:ext uri="{BB962C8B-B14F-4D97-AF65-F5344CB8AC3E}">
        <p14:creationId xmlns:p14="http://schemas.microsoft.com/office/powerpoint/2010/main" val="1304323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5446C72-B5F3-4E82-A92E-CFE868D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Interpretation and further evidence</a:t>
            </a:r>
          </a:p>
        </p:txBody>
      </p:sp>
      <p:sp>
        <p:nvSpPr>
          <p:cNvPr id="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8EF0DA8-D0A4-4037-8523-412836FA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Source: THE snapshot, 16 October 2026. Edition unverified. 5/5</a:t>
            </a:r>
          </a:p>
        </p:txBody>
      </p:sp>
      <p:sp>
        <p:nvSpPr>
          <p:cNvPr id="3" name="finding-one">
            <a:extLst xmlns:a="http://schemas.openxmlformats.org/drawingml/2006/main">
              <a:ext uri="{FF2B5EF4-FFF2-40B4-BE49-F238E27FC236}">
                <a16:creationId xmlns:a16="http://schemas.microsoft.com/office/drawing/2014/main" id="{5C62116B-F22D-4D34-8476-F87B4E73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rPr>
              <a:t>Strongest relative dimension</a:t>
            </a:r>
          </a:p>
        </p:txBody>
      </p:sp>
      <p:sp>
        <p:nvSpPr>
          <p:cNvPr id="4" name="finding-one-detail">
            <a:extLst xmlns:a="http://schemas.openxmlformats.org/drawingml/2006/main">
              <a:ext uri="{FF2B5EF4-FFF2-40B4-BE49-F238E27FC236}">
                <a16:creationId xmlns:a16="http://schemas.microsoft.com/office/drawing/2014/main" id="{6D1FBB84-9DD2-4756-9382-0873B204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International outlook: 92.6 versus 65.4, a gap of +27.2 points</a:t>
            </a:r>
          </a:p>
        </p:txBody>
      </p:sp>
      <p:sp>
        <p:nvSpPr>
          <p:cNvPr id="5" name="finding-two">
            <a:extLst xmlns:a="http://schemas.openxmlformats.org/drawingml/2006/main">
              <a:ext uri="{FF2B5EF4-FFF2-40B4-BE49-F238E27FC236}">
                <a16:creationId xmlns:a16="http://schemas.microsoft.com/office/drawing/2014/main" id="{4534FE1B-C3B6-447C-ADD4-B0B65E11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rPr>
              <a:t>Largest measured shortfall</a:t>
            </a:r>
          </a:p>
        </p:txBody>
      </p:sp>
      <p:sp>
        <p:nvSpPr>
          <p:cNvPr id="6" name="finding-two-detail">
            <a:extLst xmlns:a="http://schemas.openxmlformats.org/drawingml/2006/main">
              <a:ext uri="{FF2B5EF4-FFF2-40B4-BE49-F238E27FC236}">
                <a16:creationId xmlns:a16="http://schemas.microsoft.com/office/drawing/2014/main" id="{6D7A1961-E23D-43F8-97B8-CBDD29EC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E6EDF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6EDF9"/>
                </a:solidFill>
                <a:latin typeface="DejaVu Sans"/>
                <a:ea typeface="DejaVu Sans"/>
                <a:cs typeface="DejaVu Sans"/>
              </a:rPr>
              <a:t>Citations: 60.9 versus 72.9, a gap of −12.0 points</a:t>
            </a:r>
          </a:p>
        </p:txBody>
      </p:sp>
      <p:sp>
        <p:nvSpPr>
          <p:cNvPr id="7" name="limitations">
            <a:extLst xmlns:a="http://schemas.openxmlformats.org/drawingml/2006/main">
              <a:ext uri="{FF2B5EF4-FFF2-40B4-BE49-F238E27FC236}">
                <a16:creationId xmlns:a16="http://schemas.microsoft.com/office/drawing/2014/main" id="{653C2A68-1F03-4DF8-8FB8-E74F6016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58D9C9"/>
                </a:solidFill>
                <a:latin typeface="DejaVu Sans"/>
                <a:ea typeface="DejaVu Sans"/>
                <a:cs typeface="DejaVu Sans"/>
              </a:rPr>
              <a:t>Before a strategic recommendation</a:t>
            </a:r>
          </a:p>
        </p:txBody>
      </p:sp>
      <p:sp>
        <p:nvSpPr>
          <p:cNvPr id="8" name="limitations-detail">
            <a:extLst xmlns:a="http://schemas.openxmlformats.org/drawingml/2006/main">
              <a:ext uri="{FF2B5EF4-FFF2-40B4-BE49-F238E27FC236}">
                <a16:creationId xmlns:a16="http://schemas.microsoft.com/office/drawing/2014/main" id="{20AC21E1-40E8-4265-BF88-CE5CE4E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1C0D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1C0D8"/>
                </a:solidFill>
                <a:latin typeface="DejaVu Sans"/>
                <a:ea typeface="DejaVu Sans"/>
                <a:cs typeface="DejaVu Sans"/>
              </a:rPr>
              <a:t>Verify the ranking edition and compare institution size, subject mix and research fields. Rank proximity alone does not establish comparable missions or partnership readiness.</a:t>
            </a:r>
          </a:p>
        </p:txBody>
      </p:sp>
    </p:spTree>
    <p:extLst>
      <p:ext uri="{BB962C8B-B14F-4D97-AF65-F5344CB8AC3E}">
        <p14:creationId xmlns:p14="http://schemas.microsoft.com/office/powerpoint/2010/main" val="838957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2026-10-16T19:10:41.3790000Z</dcterms:created>
  <dcterms:modified xsi:type="dcterms:W3CDTF">2026-10-16T19:10:41.3790000Z</dcterms:modified>
</coreProperties>
</file>